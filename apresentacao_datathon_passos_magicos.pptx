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Mágicos — dados que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antecipam o cuidado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PosTech FIAP · Fase 5 · Análise do PEDE 2022–2024 e modelo preditivo de risco de defasagem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424160" y="4572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Associação Passos Mágicos transforma a vida de crianças e jovens de Embu-Guaçu por meio da educação. A cada ano, o PEDE (Pesquisa Extensiva do Desenvolvimento Educacional) avalia cada aluno em 7 dimensões, consolidadas no INDE.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583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missão neste Datathon: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perfil e a evolução da defasagem escolar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como os indicadores se relacionam e o que move o INDE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o risco: modelo que estima a probabilidade de defasagem no ano seguinte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 previsão nas mãos da equipe, via aplicação Streamlit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589520" y="1463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3.030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589520" y="23317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aluno-ano (2022–2024)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31089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589520" y="3977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trajetórias aluno→ano seguinte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47548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589520" y="56235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por aluno (IAN, IDA, IEG, IAA, IPS, IPP, IPV)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analisamos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45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Limpeza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das fases (ALFA→0; '7', 'FASE 7', '7A'), INDE 2024 com texto 'INCLUIR' → nulo, pedras com grafia unificada, IPP de 2022 reconstruído pela fórmula oficial do INDE.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645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Painel único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66160" y="228600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abas do PEDE viram um painel aluno-ano; o RA conecta o mesmo aluno ao longo dos anos (468 alunos presentes nos 3 ciclos).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45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Análise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Respondemos as 11 perguntas de negócio com estatísticas, correlações e visão longitudinal (o que o indicador de hoje diz sobre o amanhã).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8972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16459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Modelo + App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26880" y="2286000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com validação temporal (treina 2022→23, testa 2023→24), calibrado e publicado em app Streamlit.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(IAN): o quadro melhora ano a ano</a:t>
            </a:r>
            <a:endParaRPr lang="en-US" sz="3000" dirty="0"/>
          </a:p>
        </p:txBody>
      </p:sp>
      <p:pic>
        <p:nvPicPr>
          <p:cNvPr id="3" name="Image 0" descr="figures/f1_defasagem_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39136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3716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09560" y="1481328"/>
            <a:ext cx="356616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2022, 7 em cada 10 alunos estavam atrás da fase ideal. Em 2024, alunos 'em fase' já são maioria (54%). A defasagem severa (3+ fases) praticamente desapareceu: de 3,3% para 0,3%.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0" y="338328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3493008"/>
            <a:ext cx="356616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defasagem restante é majoritariamente moderada (1–2 fases) — exatamente o público que o modelo preditivo ajuda a priorizar.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acadêmico (IDA): estável no agregado, desigual entre fases</a:t>
            </a:r>
            <a:endParaRPr lang="en-US" sz="3000" dirty="0"/>
          </a:p>
        </p:txBody>
      </p:sp>
      <p:pic>
        <p:nvPicPr>
          <p:cNvPr id="3" name="Image 0" descr="figures/f3_ida_f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39136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3716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09560" y="1481328"/>
            <a:ext cx="356616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IDA médio oscila (6,1 → 6,7 → 6,4) sem tendência clara de queda. Nas fases 3–5 o desempenho cai de forma recorrente nos três anos — é a transição para o público adolescente.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0" y="338328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3493008"/>
            <a:ext cx="356616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2024, as fases 5–7 mostram recuperação visível em relação a 2022 — sinal de que o reforço nas fases finais vem funcionando.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é o motor: anda junto com aprendizagem e ponto de virada</a:t>
            </a:r>
            <a:endParaRPr lang="en-US" sz="3000" dirty="0"/>
          </a:p>
        </p:txBody>
      </p:sp>
      <p:pic>
        <p:nvPicPr>
          <p:cNvPr id="3" name="Image 0" descr="figures/f4_ieg_ida_ip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766560" cy="2926080"/>
          </a:xfrm>
          <a:prstGeom prst="rect">
            <a:avLst/>
          </a:prstGeom>
        </p:spPr>
      </p:pic>
      <p:pic>
        <p:nvPicPr>
          <p:cNvPr id="4" name="Image 1" descr="figures/f8_ipv_driv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4023360" cy="2331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772400" y="137160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909560" y="1481328"/>
            <a:ext cx="35661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correlaciona forte com IDA (r≈0,54) e com IPV (r≈0,53): aluno engajado aprende mais e caminha para o ponto de virada.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772400" y="310896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09560" y="3218688"/>
            <a:ext cx="356616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IPV é puxado por IDA, IEG e IPP — dimensões acadêmica, comportamental e psicopedagógica juntas. O ponto de virada não é um evento isolado: é consequência de engajamento sustentado.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(IAA): a percepção descola do desempenho real</a:t>
            </a:r>
            <a:endParaRPr lang="en-US" sz="3000" dirty="0"/>
          </a:p>
        </p:txBody>
      </p:sp>
      <p:pic>
        <p:nvPicPr>
          <p:cNvPr id="3" name="Image 0" descr="figures/f5_iaa_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4008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137160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52360" y="1481328"/>
            <a:ext cx="402336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IAA×IDA de apenas ~0,2: alunos com notas baixas frequentemente se autoavaliam muito bem (e vice-versa).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0" y="301752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3127248"/>
            <a:ext cx="402336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defeito — é informação: autoestima preservada é ativo do programa. Mas o IAA não serve como termômetro acadêmico; usar IAA alto + IDA baixo como alerta de expectativa desalinhada.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Psicossocial (IPS): sinal antecipado de queda acadêmica</a:t>
            </a:r>
            <a:endParaRPr lang="en-US" sz="3000" dirty="0"/>
          </a:p>
        </p:txBody>
      </p:sp>
      <p:pic>
        <p:nvPicPr>
          <p:cNvPr id="3" name="Image 0" descr="figures/f6_ips_qu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40080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1371600"/>
            <a:ext cx="4297680" cy="1737360"/>
          </a:xfrm>
          <a:prstGeom prst="roundRect">
            <a:avLst>
              <a:gd name="adj" fmla="val 4211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52360" y="1481328"/>
            <a:ext cx="402336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no quartil mais baixo de IPS têm 34% de chance de perder 1+ ponto de IDA no ano seguinte, contra 24% no grupo intermediário-alto.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0" y="329184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3401568"/>
            <a:ext cx="40233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IPS funciona como radar precoce: quedas psicossociais merecem resposta pedagógica antes que virem queda de nota.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Psicopedagógico (IPP) confirma o IAN</a:t>
            </a:r>
            <a:endParaRPr lang="en-US" sz="3000" dirty="0"/>
          </a:p>
        </p:txBody>
      </p:sp>
      <p:pic>
        <p:nvPicPr>
          <p:cNvPr id="3" name="Image 0" descr="figures/f7_ipp_defasag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40080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1371600"/>
            <a:ext cx="4297680" cy="1828800"/>
          </a:xfrm>
          <a:prstGeom prst="roundRect">
            <a:avLst>
              <a:gd name="adj" fmla="val 400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52360" y="1481328"/>
            <a:ext cx="402336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a defasagem, menor o IPP mediano (7,4 'em fase' → 6,7 na defasagem severa). As duas lentes — administrativa (IAN) e clínica (IPP) — contam a mesma história.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0" y="338328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3493008"/>
            <a:ext cx="40233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convergência valida o instrumento: o IAN pode ser usado com confiança para triagem em escala.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eleva o INDE: força combinada, não isolada</a:t>
            </a:r>
            <a:endParaRPr lang="en-US" sz="3000" dirty="0"/>
          </a:p>
        </p:txBody>
      </p:sp>
      <p:pic>
        <p:nvPicPr>
          <p:cNvPr id="3" name="Image 0" descr="figures/f10_combinacoes_in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40080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1371600"/>
            <a:ext cx="4297680" cy="1920240"/>
          </a:xfrm>
          <a:prstGeom prst="roundRect">
            <a:avLst>
              <a:gd name="adj" fmla="val 3810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52360" y="1481328"/>
            <a:ext cx="402336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indicador forte a mais (IDA, IEG, IPS, IPP acima da mediana) adiciona ~0,6 ponto de INDE. A melhor combinação (os 4 altos) entrega INDE médio 8,4 vs 6,0 quando os 4 estão baixos.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0" y="347472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3584448"/>
            <a:ext cx="40233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e IEG são o par mais decisivo (r=0,79 e 0,75 com INDE) — investir em engajamento é investir no índice inteiro.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 do programa: as pedras sobem</a:t>
            </a:r>
            <a:endParaRPr lang="en-US" sz="3000" dirty="0"/>
          </a:p>
        </p:txBody>
      </p:sp>
      <p:pic>
        <p:nvPicPr>
          <p:cNvPr id="3" name="Image 0" descr="figures/f9_pedras_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39136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37160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09560" y="1481328"/>
            <a:ext cx="35661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Topázio dobrou em 2 anos (15% → 31%) e Quartzo caiu de 15% para 11%. O INDE médio subiu de 7,04 para 7,40.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772400" y="320040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3310128"/>
            <a:ext cx="35661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melhora aparece em quase todas as fases e também na defasagem — evidência consistente de impacto real do ciclo do programa.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preditivo: risco de defasagem no ano seguinte</a:t>
            </a:r>
            <a:endParaRPr lang="en-US" sz="3000" dirty="0"/>
          </a:p>
        </p:txBody>
      </p:sp>
      <p:pic>
        <p:nvPicPr>
          <p:cNvPr id="3" name="Image 0" descr="figures/f11_modelo_roc_importa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3154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1040" y="1371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321040" y="22402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em validação temporal (treina 2022→23, testa 2023→24)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321040" y="3017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321040" y="3886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na classe de risco (corte 0,5)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usa os indicadores do aluno no ano atual (defasagem, IAN, fase, idade, IPP, IPV, INDE, notas...) e devolve a probabilidade de estar defasado no ano seguinte. Probabilidades calibradas — 70% significa 70%.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análise à ação: aplicação Streamlit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Avaliação individual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informa os indicadores do aluno e recebe a probabilidade de risco com classificação (alto / moderado / baixo) e pontos de atenção.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89120" y="15544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Avaliação em lote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2423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CSV com a turma inteira → ranking de prioridade de acompanhamento, exportável.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Deploy simples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0" y="2423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no Streamlit Community Cloud, sem custo, direto do repositório GitHub.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uso: rodar o modelo logo após o fechamento do PEDE de cada ano e montar a lista de prioridade de acompanhamento do ano letivo seguinte.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para a Passos Mágicos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Priorizar com o modelo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probabilidade de risco para ordenar o acompanhamento individualizado — foco nos ~20% de maior risco, onde o retorno é maior.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Atacar as fases 3–5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0574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o IDA cai de forma recorrente. Reforço acadêmico e de engajamento nessa transição para a adolescência.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13716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DECF2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IPS como radar precoce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0" y="20574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Instituir alerta quando o IPS cair de um ano para o outro, mesmo com notas estáveis — a queda acadêmica tende a vir depois.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23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Olhar o par IAA×IDA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alta com desempenho baixo indica expectativa desalinhada: oportunidade de orientação e devolutiva individual.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886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023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Engajamento em 1º lugar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4572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 é o indicador mais 'alavancável' e movimenta IDA, IPV e INDE juntos. Metas de presença e participação por turma.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0" y="3886200"/>
            <a:ext cx="35661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5C9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023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Padronizar o dado na origem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572000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formatos de fase, pedra e campos entre anos facilita as próximas edições do PEDE e melhora o próprio modelo.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que transforma,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antecipam.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funciona — e agora a Passos Mágicos pode chegar antes a quem mais precisa.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Entregáveis: GitHub · Notebook do modelo · App Streamlit · Esta apresentação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424160" y="4572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D1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2026-07-29T01:06:13Z</dcterms:created>
  <dcterms:modified xsi:type="dcterms:W3CDTF">2026-07-29T01:06:13Z</dcterms:modified>
</cp:coreProperties>
</file>